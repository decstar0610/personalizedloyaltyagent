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an agent that designs an individual loyalty journey for every customer, end-to-end on NVIDIA NIM. Stress the two hooks: genuinely agentic, and consent-first.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talk. Emphasize that three behaviors separate this from a single LLM call: dynamic routing, multi-flag consent, and a self-critique loop. The next three slides take each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Pause on the green Consent Gate node: a consent-off customer exits here with a deterministic generic offer and never calls the LLM. Everything downstream only runs with consent.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 slide. Make the point that consent is not one switch but three flags, and the agent records its reasoning in consent_notes for transparency.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offline tests, all green, LLM and RAG mocked. Be precise: these prove the deterministic guardrails and schema hold, not that the LLM reasons well. That honesty reads as engineering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pills. Invite questions. If asked what is left: only the demo video; the Kaggle scale-up pipeline is built and awaiting the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5486400" cy="90525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914400"/>
            <a:ext cx="3291840" cy="3291840"/>
          </a:xfrm>
          <a:prstGeom prst="ellipse">
            <a:avLst/>
          </a:prstGeom>
          <a:solidFill>
            <a:srgbClr val="76B900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840480"/>
            <a:ext cx="2011680" cy="2011680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731520"/>
            <a:ext cx="868680" cy="868680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9573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PS100  ·  NVIDIA FINAL-PROJECT SUBMISSION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LoyaltyForge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95528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Personalized Reward Journeys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that designs an individual loyalty journey for every customer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over purchase history, tier and consent, end-to-end on the NVIDIA NIM stack.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528" y="5806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95528" y="60533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61488" y="5806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61488" y="60533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27448" y="5806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27448" y="60533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93408" y="5806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93408" y="60533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 with loyalty programs today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run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loyalty programs. Everyone in a tier gets the same offer — so promotions feel irrelevant, redemption stays low, and customers churn.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Worse, these blanket campaigns routinely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each customer's privacy and consent boundaries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sending personalization no one agreed 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gap LoyaltyForge closes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static rulebook with an autonomous agent that reasons about each customer individually — and treats consent as a hard, non-negotiable constraint.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47088"/>
            <a:ext cx="822960" cy="82296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9050" y="2061058"/>
            <a:ext cx="395021" cy="3950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60920" y="1810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Generic offers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60920" y="22128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in a tier sees the same promotion, regardless of what they buy.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3127248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3419856"/>
            <a:ext cx="822960" cy="82296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3633826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3383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Low redemption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360920" y="37856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rewards go unused — wasted marketing spend and weak engagement.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26480" y="4700016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4992624"/>
            <a:ext cx="822960" cy="82296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52065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60920" y="4956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Consent ignored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360920" y="53583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campaigns push personalization customers never opted into.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agent, not a single LLM call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customer ID, the agent reads purchase history, tier and points, checks consent before any personalization, retrieves the applicable rules via RAG, and emits a structured, schema-validated journey. Three behaviors make it genuinely agentic: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34640"/>
            <a:ext cx="914400" cy="9144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30723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8862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Dynamic tool routing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conditional edges classify each customer (new · lapsing · near-threshold · established) and route to a segment-specific rule path. Consent is the first gate.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25112" y="251460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45152" y="2834640"/>
            <a:ext cx="914400" cy="9144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307238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5152" y="38862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45152" y="41148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Multi-flag consent reasoning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45152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off → generic offer, stop. When on, secondary flags are honored: email off → no email channel; data-sharing off → first-party data only.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01584" y="251460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21624" y="2834640"/>
            <a:ext cx="914400" cy="9144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307238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21624" y="38862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421624" y="41148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 loop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21624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node checks reward grounding, consent compliance and schema; on failure the agent revises and re-validates (≤2 retries) before finalizing.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a request flows through the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2267712"/>
            <a:ext cx="749808" cy="749808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798" y="2462662"/>
            <a:ext cx="359908" cy="3599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3108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Request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2648" y="352958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Studio / API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0358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50592" y="201168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53512" y="2267712"/>
            <a:ext cx="749808" cy="74980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462" y="2462662"/>
            <a:ext cx="359908" cy="359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96312" y="3108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Consent gate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496312" y="352958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→ generic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offer, STOP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4" y="30358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34256" y="201168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37176" y="2267712"/>
            <a:ext cx="749808" cy="749808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126" y="2462662"/>
            <a:ext cx="359908" cy="3599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9976" y="3108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Classify + route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4379976" y="352958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lapsing ·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near-thr · established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03580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17920" y="201168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720840" y="2267712"/>
            <a:ext cx="749808" cy="749808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790" y="2462662"/>
            <a:ext cx="359908" cy="3599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63640" y="3108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RAG rules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6263640" y="352958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NIM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3035808"/>
            <a:ext cx="237744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01584" y="201168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604504" y="2267712"/>
            <a:ext cx="749808" cy="749808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9454" y="2462662"/>
            <a:ext cx="359908" cy="3599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47304" y="3108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Draft</a:t>
            </a:r>
            <a:endParaRPr lang="en-US" sz="1350" dirty="0"/>
          </a:p>
        </p:txBody>
      </p:sp>
      <p:sp>
        <p:nvSpPr>
          <p:cNvPr id="33" name="Text 22"/>
          <p:cNvSpPr/>
          <p:nvPr/>
        </p:nvSpPr>
        <p:spPr>
          <a:xfrm>
            <a:off x="8147304" y="352958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LLM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honors consent</a:t>
            </a:r>
            <a:endParaRPr lang="en-US" sz="1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656" y="3035808"/>
            <a:ext cx="237744" cy="237744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85248" y="201168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488168" y="2267712"/>
            <a:ext cx="749808" cy="749808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3118" y="2462662"/>
            <a:ext cx="359908" cy="35990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030968" y="3108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Validate ⇄ revise</a:t>
            </a:r>
            <a:endParaRPr lang="en-US" sz="1350" dirty="0"/>
          </a:p>
        </p:txBody>
      </p:sp>
      <p:sp>
        <p:nvSpPr>
          <p:cNvPr id="39" name="Text 26"/>
          <p:cNvSpPr/>
          <p:nvPr/>
        </p:nvSpPr>
        <p:spPr>
          <a:xfrm>
            <a:off x="10030968" y="352958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consent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≤2 retries</a:t>
            </a:r>
            <a:endParaRPr lang="en-US" sz="1000" dirty="0"/>
          </a:p>
        </p:txBody>
      </p:sp>
      <p:sp>
        <p:nvSpPr>
          <p:cNvPr id="40" name="Shape 27"/>
          <p:cNvSpPr/>
          <p:nvPr/>
        </p:nvSpPr>
        <p:spPr>
          <a:xfrm>
            <a:off x="566928" y="4709160"/>
            <a:ext cx="11027664" cy="960120"/>
          </a:xfrm>
          <a:prstGeom prst="roundRect">
            <a:avLst>
              <a:gd name="adj" fmla="val 7619"/>
            </a:avLst>
          </a:prstGeom>
          <a:solidFill>
            <a:srgbClr val="1A2740"/>
          </a:solidFill>
          <a:ln w="15875">
            <a:solidFill>
              <a:srgbClr val="76B900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868680" y="4910328"/>
            <a:ext cx="548640" cy="54864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326" y="5052974"/>
            <a:ext cx="263347" cy="263347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600200" y="49103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Pydantic-enforced Journey JSON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returned to the React Studio / Streamlit, with consent enforced server-side.</a:t>
            </a:r>
            <a:endParaRPr lang="en-US" sz="1400" dirty="0"/>
          </a:p>
        </p:txBody>
      </p:sp>
      <p:sp>
        <p:nvSpPr>
          <p:cNvPr id="44" name="Text 30"/>
          <p:cNvSpPr/>
          <p:nvPr/>
        </p:nvSpPr>
        <p:spPr>
          <a:xfrm>
            <a:off x="566928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customers.json (or CUSTOMERS_FILE)  ·  loyalty_rules.md  ·  FAISS index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BEHAVIOR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Dynamic tool routing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its own path — it is not a fixed pipeline. LangGraph conditional edges classify the customer, then route to the rules that matter for that situation.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88336"/>
            <a:ext cx="502920" cy="5029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819095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426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46120" y="26426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Little/no history → welcome journey, skip deep purchase analysis.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47288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621024"/>
            <a:ext cx="502920" cy="5029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751783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5753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Lapsing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246120" y="357530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last-purchase date → prioritize re-engagement rules.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379976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553712"/>
            <a:ext cx="502920" cy="5029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68447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507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Near-threshold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246120" y="45079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~200 pts of next tier → prioritize upgrade rules.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312664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6171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5440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Established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3246120" y="5440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history → full personalization across categories.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635240" y="25146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955280" y="2834640"/>
            <a:ext cx="777240" cy="77724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362" y="3036722"/>
            <a:ext cx="373075" cy="3730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869680" y="2907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Non-negotiable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7955280" y="3749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always the first gate — before any classification or routing runs.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955280" y="4709160"/>
            <a:ext cx="3291840" cy="0"/>
          </a:xfrm>
          <a:prstGeom prst="line">
            <a:avLst/>
          </a:prstGeom>
          <a:noFill/>
          <a:ln w="12700">
            <a:solidFill>
              <a:srgbClr val="24324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95528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7955280" y="5120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customer and a lapsing customer demonstrably take different tool paths.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BEHAVIOR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Multi-flag consent reasoning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not a single on/off switch. The agent reasons over every flag and records how each one shaped the journey.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93592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651760"/>
            <a:ext cx="868680" cy="86868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877617"/>
            <a:ext cx="416966" cy="4169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3703320"/>
            <a:ext cx="2953512" cy="457200"/>
          </a:xfrm>
          <a:prstGeom prst="roundRect">
            <a:avLst>
              <a:gd name="adj" fmla="val 12000"/>
            </a:avLst>
          </a:prstGeom>
          <a:solidFill>
            <a:srgbClr val="0E1726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7033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personalization = false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offer only. personalization_applied = false, and the agent stops — no LLM call at 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25112" y="2331720"/>
            <a:ext cx="3593592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45152" y="2651760"/>
            <a:ext cx="868680" cy="86868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009" y="2877617"/>
            <a:ext cx="416966" cy="41696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45152" y="3703320"/>
            <a:ext cx="2953512" cy="457200"/>
          </a:xfrm>
          <a:prstGeom prst="roundRect">
            <a:avLst>
              <a:gd name="adj" fmla="val 12000"/>
            </a:avLst>
          </a:prstGeom>
          <a:solidFill>
            <a:srgbClr val="0E1726"/>
          </a:solidFill>
          <a:ln/>
        </p:spPr>
      </p:sp>
      <p:sp>
        <p:nvSpPr>
          <p:cNvPr id="16" name="Text 12"/>
          <p:cNvSpPr/>
          <p:nvPr/>
        </p:nvSpPr>
        <p:spPr>
          <a:xfrm>
            <a:off x="4736592" y="37033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email_marketing = false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45152" y="429768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personalized journey, but recommend no email-based offer or channel. Noted in output.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01584" y="2331720"/>
            <a:ext cx="3593592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21624" y="2651760"/>
            <a:ext cx="868680" cy="86868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481" y="2877617"/>
            <a:ext cx="416966" cy="41696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421624" y="3703320"/>
            <a:ext cx="2953512" cy="457200"/>
          </a:xfrm>
          <a:prstGeom prst="roundRect">
            <a:avLst>
              <a:gd name="adj" fmla="val 12000"/>
            </a:avLst>
          </a:prstGeom>
          <a:solidFill>
            <a:srgbClr val="0E1726"/>
          </a:solidFill>
          <a:ln/>
        </p:spPr>
      </p:sp>
      <p:sp>
        <p:nvSpPr>
          <p:cNvPr id="22" name="Text 17"/>
          <p:cNvSpPr/>
          <p:nvPr/>
        </p:nvSpPr>
        <p:spPr>
          <a:xfrm>
            <a:off x="8513064" y="37033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data_sharing = false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421624" y="429768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only — no reward that depends on cross-store or third-party data.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5550408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928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5550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by design —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carries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consent_notes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explaining exactly how the flags constrained the journey.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BEHAVIOR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 &amp; revision loop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finalizing, a validation node audits the agent's own draft. If any check fails, it revises and re-validates — up to two retries — so the output is always grounded and compliant.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788920"/>
            <a:ext cx="548640" cy="54864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9315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6791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Reward grounding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recommended reward must map to an actual rule returned by RAG — no invented rewards.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75888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3950208"/>
            <a:ext cx="548640" cy="54864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409285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8404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Consent compliance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54480" y="4224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recommendation may violate any consent flag the customer set.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837176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5111496"/>
            <a:ext cx="548640" cy="54864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5254142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5001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Schema validity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53858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must match the Pydantic schema exactly — valid JSON, every time.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543800" y="2514600"/>
            <a:ext cx="4069080" cy="3621024"/>
          </a:xfrm>
          <a:prstGeom prst="roundRect">
            <a:avLst>
              <a:gd name="adj" fmla="val 2273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81812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863840" y="310896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5875">
            <a:solidFill>
              <a:srgbClr val="24324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01000" y="31089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2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503920" y="3108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journey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7863840" y="3822192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5875">
            <a:solidFill>
              <a:srgbClr val="24324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01000" y="382219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2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503920" y="382219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3 checks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863840" y="4535424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5875">
            <a:solidFill>
              <a:srgbClr val="76B9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01000" y="453542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503920" y="453542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 finalize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863840" y="5248656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001000" y="524865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8503920" y="52486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Fail? revise (≤2×)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863840" y="5943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adds </a:t>
            </a:r>
            <a:pPr indent="0" marL="0">
              <a:buNone/>
            </a:pPr>
            <a:r>
              <a:rPr lang="en-US" sz="1100" b="1" i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validation_passed</a:t>
            </a:r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schema, three data sources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shares a single schema, so the agent runs on any of them unchanged via the CUSTOMERS_FILE env var. Loyalty rules live separately as the RAG source.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87752"/>
            <a:ext cx="777240" cy="77724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789834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4747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Curated demo (default)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hand-built customers chosen to exercise every path — including Vikram, a hard consent-off case with no LLM call. Small by design: deterministic demos.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5074920"/>
            <a:ext cx="2953512" cy="365760"/>
          </a:xfrm>
          <a:prstGeom prst="roundRect">
            <a:avLst>
              <a:gd name="adj" fmla="val 12500"/>
            </a:avLst>
          </a:prstGeom>
          <a:solidFill>
            <a:srgbClr val="0E1726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0749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data/customers.json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5112" y="228600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5152" y="2587752"/>
            <a:ext cx="777240" cy="77724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234" y="2789834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5152" y="34747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Real-world scale-up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45152" y="406908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Customer Personality Analysis (~2,240 rows). Ingestion maps category spend to history and synthesizes tier, points, persona and consent flags.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45152" y="5074920"/>
            <a:ext cx="2953512" cy="365760"/>
          </a:xfrm>
          <a:prstGeom prst="roundRect">
            <a:avLst>
              <a:gd name="adj" fmla="val 12500"/>
            </a:avLst>
          </a:prstGeom>
          <a:solidFill>
            <a:srgbClr val="0E1726"/>
          </a:solidFill>
          <a:ln/>
        </p:spPr>
      </p:sp>
      <p:sp>
        <p:nvSpPr>
          <p:cNvPr id="19" name="Text 15"/>
          <p:cNvSpPr/>
          <p:nvPr/>
        </p:nvSpPr>
        <p:spPr>
          <a:xfrm>
            <a:off x="4736592" y="50749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scripts/ingest_*.py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01584" y="228600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21624" y="2587752"/>
            <a:ext cx="777240" cy="77724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706" y="2789834"/>
            <a:ext cx="373075" cy="3730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21624" y="34747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Synthetic generator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21624" y="406908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arbitrary-size sets on demand; a 200-row file proved scaling. The curated five remain the default for demos.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421624" y="5074920"/>
            <a:ext cx="2953512" cy="365760"/>
          </a:xfrm>
          <a:prstGeom prst="roundRect">
            <a:avLst>
              <a:gd name="adj" fmla="val 12500"/>
            </a:avLst>
          </a:prstGeom>
          <a:solidFill>
            <a:srgbClr val="0E1726"/>
          </a:solidFill>
          <a:ln/>
        </p:spPr>
      </p:sp>
      <p:sp>
        <p:nvSpPr>
          <p:cNvPr id="26" name="Text 21"/>
          <p:cNvSpPr/>
          <p:nvPr/>
        </p:nvSpPr>
        <p:spPr>
          <a:xfrm>
            <a:off x="8513064" y="50749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generate_customers.py --count N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buNone/>
            </a:pPr>
            <a:r>
              <a:rPr lang="en-US" sz="1150" dirty="0">
                <a:solidFill>
                  <a:srgbClr val="4A5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· name · persona · purchase_history[item, category, amount, date] · consent_flags · loyalty_tier · points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on the NVIDIA stack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03120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227429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21396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llama-3.1-70b-instruct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2103120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496" y="227429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1396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721608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nv-embedqa-e5-v5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91072" y="182880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103120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68" y="227429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88352" y="21396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58368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53144" y="182880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27464" y="2103120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640" y="2274296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50424" y="21396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445752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3639312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41248" y="3913632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424" y="4084808"/>
            <a:ext cx="316017" cy="31601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64208" y="3950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59536" y="4645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(faiss-cpu)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3429000" y="3639312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703320" y="3913632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496" y="4084808"/>
            <a:ext cx="316017" cy="31601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26280" y="3950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721608" y="4645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291072" y="3639312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65392" y="3913632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568" y="4084808"/>
            <a:ext cx="316017" cy="31601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388352" y="3950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UI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583680" y="4645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9153144" y="3639312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427464" y="3913632"/>
            <a:ext cx="658368" cy="658368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8640" y="4084808"/>
            <a:ext cx="316017" cy="31601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0250424" y="3950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UI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9445752" y="4645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TypeScript  ·  data swappable via CUSTOMERS_FILE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design choices &amp; rationale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647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Fully NVIDIA stack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37360" y="2167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embeddings both on NIM — the core requirement — rather than mixing providers.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0647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LangGraph for real routing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06640" y="2167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give true dynamic routing and a clean home for the validate→revise loop.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044952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319272"/>
            <a:ext cx="731520" cy="7315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3509467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Consent-first hard gate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37360" y="3611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consent-off customer is handled deterministically and never calls the LLM — the headline differentiator.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044952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3319272"/>
            <a:ext cx="731520" cy="7315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3509467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FAISS + Pydantic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06640" y="3611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in-process RAG grounds rewards; Pydantic guarantees the API/UI always get valid JSON.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4489704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764024"/>
            <a:ext cx="731520" cy="7315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4954219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37360" y="4690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FastAPI + React Studio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737360" y="50566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six-section Studio is the primary demo; Streamlit stays as a simple backup.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17920" y="4489704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92240" y="4764024"/>
            <a:ext cx="731520" cy="73152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435" y="4954219"/>
            <a:ext cx="351130" cy="35113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06640" y="4690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Honest, derived metrics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7406640" y="50566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business numbers are computed from real data and labelled "estimate" — only the journey is agent-generated.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PRODUCES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structured, validated journey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989320" cy="4572000"/>
          </a:xfrm>
          <a:prstGeom prst="roundRect">
            <a:avLst>
              <a:gd name="adj" fmla="val 1800"/>
            </a:avLst>
          </a:prstGeom>
          <a:solidFill>
            <a:srgbClr val="0E1726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PERSONALIZED  </a:t>
            </a:r>
            <a:pPr indent="0" marL="0">
              <a:buNone/>
            </a:pPr>
            <a:r>
              <a:rPr lang="en-US" sz="1200" spc="1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(consent granted)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"customer_id": "C001",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"personalization_applied": true,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"segment": "near_threshold",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"consent_notes": "email allowed; data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sharing OFF - first-party only",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"validation_passed": true,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"loyalty_journey":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"current_tier": "silver",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"recommended_action":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"Promote toward Gold (180 pts away)",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"rewards": [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"reward": "Fitness Bundle",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"reason": "Frequent sportswear buyer" 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"next_best_offer":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"10% off next sportswear purchase",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"message": "Hi Asha! You're 180 pts..."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4892040" cy="2423160"/>
          </a:xfrm>
          <a:prstGeom prst="roundRect">
            <a:avLst>
              <a:gd name="adj" fmla="val 3396"/>
            </a:avLst>
          </a:prstGeom>
          <a:solidFill>
            <a:srgbClr val="0E1726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2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CONSENT-OFF  </a:t>
            </a:r>
            <a:pPr indent="0" marL="0">
              <a:buNone/>
            </a:pPr>
            <a:r>
              <a:rPr lang="en-US" sz="1200" spc="1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LLM call)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214884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"customer_id": "C004",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"personalization_applied": false,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"segment": "consent_off",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"loyalty_journey":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"rewards": [],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"next_best_offer": "5% off + points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 every order."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4160520"/>
            <a:ext cx="48920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4288536"/>
            <a:ext cx="365760" cy="36576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4383634"/>
            <a:ext cx="175565" cy="1755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0" y="416052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recorded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journey states the flags that shaped it.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20840" y="4855464"/>
            <a:ext cx="48920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03720" y="4983480"/>
            <a:ext cx="365760" cy="36576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818" y="5078578"/>
            <a:ext cx="175565" cy="1755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485546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rewards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reward traces back to a retrieved rule.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720840" y="5550408"/>
            <a:ext cx="48920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903720" y="5678424"/>
            <a:ext cx="365760" cy="36576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818" y="5773522"/>
            <a:ext cx="175565" cy="1755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06640" y="555040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guarantees parseable JSON for the UI.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 offline tests guard the guardrails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200400" cy="448056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794760"/>
            <a:ext cx="2286000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mocked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or network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change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0" y="1691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suite covers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224028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459736"/>
            <a:ext cx="457200" cy="4572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2578608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92040" y="2386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Consent gating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0" y="238658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Consent-off customers receive the generic offer only — never personalization.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023360" y="321868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51960" y="3438144"/>
            <a:ext cx="457200" cy="4572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355701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2040" y="33649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Segment routing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315200" y="33649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lapsing / near-threshold / established are classified correctly.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023360" y="41970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251960" y="4416552"/>
            <a:ext cx="457200" cy="4572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453542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9204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Multi-flag constraints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315200" y="4343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data-sharing flags produce exactly the right restrictions.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023360" y="517550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251960" y="5394960"/>
            <a:ext cx="457200" cy="4572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51383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92040" y="53218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 loop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315200" y="5321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flags ungrounded rewards, consent violations and schema errors.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023360" y="62636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the tests verify deterministic guardrails and schema — not the LLM's wording or reasoning quality.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Status &amp; success criteria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148840"/>
            <a:ext cx="310896" cy="310896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762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11226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NVIDIA agent — all three behaviors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" y="2596896"/>
            <a:ext cx="310896" cy="310896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243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60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Studio wired to FastAPI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58952" y="3044952"/>
            <a:ext cx="310896" cy="310896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0723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0083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passing offline tests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58952" y="3493008"/>
            <a:ext cx="310896" cy="310896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5204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456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+ README fully updated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58952" y="3941064"/>
            <a:ext cx="310896" cy="310896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96849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9044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private GitHub (main, in sync)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48920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822960" y="5074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demo video / screenshots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remaining PRD deliverable)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Kaggle scale-up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 built, awaiting CSV)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surface segment &amp; validation in UI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309360" y="1920240"/>
            <a:ext cx="5303520" cy="4343400"/>
          </a:xfrm>
          <a:prstGeom prst="roundRect">
            <a:avLst>
              <a:gd name="adj" fmla="val 1895"/>
            </a:avLst>
          </a:prstGeom>
          <a:solidFill>
            <a:srgbClr val="111B2E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233720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694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Success criteria — target met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6583680" y="3063240"/>
            <a:ext cx="292608" cy="29260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090672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4088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journey for every customer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583680" y="3575304"/>
            <a:ext cx="292608" cy="29260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3602736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40880" y="3529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Consent-off never receives personalization (hard rule)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583680" y="4087368"/>
            <a:ext cx="292608" cy="29260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4114800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040880" y="4041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 matching the Pydantic schema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6583680" y="4599432"/>
            <a:ext cx="292608" cy="29260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4626864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040880" y="4553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test suite passes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6583680" y="5111496"/>
            <a:ext cx="292608" cy="29260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5138928"/>
            <a:ext cx="237744" cy="23774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040880" y="5065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runs without crashing</a:t>
            </a:r>
            <a:endParaRPr lang="en-US" sz="1250" dirty="0"/>
          </a:p>
        </p:txBody>
      </p:sp>
      <p:sp>
        <p:nvSpPr>
          <p:cNvPr id="44" name="Shape 31"/>
          <p:cNvSpPr/>
          <p:nvPr/>
        </p:nvSpPr>
        <p:spPr>
          <a:xfrm>
            <a:off x="6583680" y="5623560"/>
            <a:ext cx="292608" cy="29260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1112" y="5650992"/>
            <a:ext cx="237744" cy="23774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040880" y="5577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lets a stranger set it up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Roadmap beyond the MVP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reasoning core stays the same — these extensions deepen the data layer, scale the orchestration, and close the loop on outcomes.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560320"/>
            <a:ext cx="685800" cy="6858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7386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57860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Production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3101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live transaction feeds replacing the JSON layer — no change to agent logic.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2286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560320"/>
            <a:ext cx="685800" cy="6858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7386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57860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split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33101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analysis, rules and messaging agents for deeper specialization.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2286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560320"/>
            <a:ext cx="685800" cy="6858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7386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98864" y="257860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Reward fulfillment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94192" y="33101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real coupons/points through downstream systems, not just recommend them.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160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4434840"/>
            <a:ext cx="685800" cy="6858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61314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45312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Feedback loop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41248" y="518464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redemption rates to improve future recommendations.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25112" y="4160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17720" y="4434840"/>
            <a:ext cx="685800" cy="6858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8" y="461314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22392" y="445312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Multilingual messages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617720" y="518464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customer-facing message in the member's preferred language.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01584" y="4160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94192" y="4434840"/>
            <a:ext cx="685800" cy="685800"/>
          </a:xfrm>
          <a:prstGeom prst="ellipse">
            <a:avLst/>
          </a:prstGeom>
          <a:solidFill>
            <a:srgbClr val="11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613148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98864" y="445312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Richer Studio surfacing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394192" y="518464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segment, validation and consent notes directly in the UI.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76B9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97280"/>
            <a:ext cx="1280160" cy="1280160"/>
          </a:xfrm>
          <a:prstGeom prst="ellipse">
            <a:avLst/>
          </a:prstGeom>
          <a:solidFill>
            <a:srgbClr val="76B90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802" y="143012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LoyaltyForge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5087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agent that reasons about every customer — and treats consent as non-negotiable.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43000" y="46634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5875">
            <a:solidFill>
              <a:srgbClr val="76B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agentic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26280" y="46634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5875">
            <a:solidFill>
              <a:srgbClr val="76B9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09560" y="46634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5875">
            <a:solidFill>
              <a:srgbClr val="76B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0956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NVIDIA NIM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M  ·  PS100  ·  Retail &amp; E-commerce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LoyaltyForge — Personalized Reward Journeys</dc:title>
  <dc:subject>PptxGenJS Presentation</dc:subject>
  <dc:creator>Priyanka M</dc:creator>
  <cp:lastModifiedBy>Priyanka M</cp:lastModifiedBy>
  <cp:revision>1</cp:revision>
  <dcterms:created xsi:type="dcterms:W3CDTF">2026-06-16T12:08:15Z</dcterms:created>
  <dcterms:modified xsi:type="dcterms:W3CDTF">2026-06-16T12:08:15Z</dcterms:modified>
</cp:coreProperties>
</file>